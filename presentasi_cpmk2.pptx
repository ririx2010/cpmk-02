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1 (Judul) — ~15 detik</a:t>
            </a:r>
          </a:p>
          <a:p/>
          <a:p>
            <a:r>
              <a:t>Assalamualaikum / Selamat pagi Bapak/Ibu dosen.</a:t>
            </a:r>
          </a:p>
          <a:p>
            <a:r>
              <a:t>Perkenalkan, saya Riyadi, NIM H2A025002.</a:t>
            </a:r>
          </a:p>
          <a:p>
            <a:r>
              <a:t>Pada kesempatan ini saya akan mempresentasikan Ujian CPMK-2:</a:t>
            </a:r>
          </a:p>
          <a:p>
            <a:r>
              <a:t>rancangan Sistem Pendukung Keputusan untuk pemilihan Bidang Konsentrasi</a:t>
            </a:r>
          </a:p>
          <a:p>
            <a:r>
              <a:t>menggunakan Fuzzy Inference System metode Mamdani.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2 (Masalah) — ~1 menit</a:t>
            </a:r>
          </a:p>
          <a:p/>
          <a:p>
            <a:r>
              <a:t>Masalahnya: sebuah kampus ingin membangun SPK untuk membantu mahasiswa</a:t>
            </a:r>
          </a:p>
          <a:p>
            <a:r>
              <a:t>memilih konsentrasi di antara 3 pilihan: ITP, RPLD, dan SKJK.</a:t>
            </a:r>
          </a:p>
          <a:p/>
          <a:p>
            <a:r>
              <a:t>Setiap mahasiswa punya data IPK dan Minat untuk setiap KBK.</a:t>
            </a:r>
          </a:p>
          <a:p>
            <a:r>
              <a:t>Sistem fuzzy menghitung Nilai Kelayakan (NK) untuk masing-masing KBK,</a:t>
            </a:r>
          </a:p>
          <a:p>
            <a:r>
              <a:t>lalu merekomendasikan yang tertinggi.</a:t>
            </a:r>
          </a:p>
          <a:p/>
          <a:p>
            <a:r>
              <a:t>Data target nomor 20 menarik karena:</a:t>
            </a:r>
          </a:p>
          <a:p>
            <a:r>
              <a:t>- SKJK punya IP TERTINGGI (3.65) tapi minat paling rendah (1.50)</a:t>
            </a:r>
          </a:p>
          <a:p>
            <a:r>
              <a:t>- RPLD punya kombinasi paling seimbang</a:t>
            </a:r>
          </a:p>
          <a:p>
            <a:r>
              <a:t>- Pertanyaannya: apakah fuzzy system bisa menangkap nuansa ini?</a:t>
            </a:r>
          </a:p>
          <a:p/>
          <a:p>
            <a:r>
              <a:t>Lihat heatmap di kanan: area merah = NK tinggi, butuh IP DAN Minat</a:t>
            </a:r>
          </a:p>
          <a:p>
            <a:r>
              <a:t>yang tinggi secara bersamaan. Ini menunjukkan kenapa kita butuh fuzzy,</a:t>
            </a:r>
          </a:p>
          <a:p>
            <a:r>
              <a:t>bukan sekadar mengambil IP tertinggi.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3 (Arsitektur Mamdani) — ~45 detik</a:t>
            </a:r>
          </a:p>
          <a:p/>
          <a:p>
            <a:r>
              <a:t>Ini diagram alir FIS Mamdani yang saya gunakan. Ada 5 tahap:</a:t>
            </a:r>
          </a:p>
          <a:p/>
          <a:p>
            <a:r>
              <a:t>1. FUZZIFIKASI: mengubah angka crisp menjadi derajat keanggotaan.</a:t>
            </a:r>
          </a:p>
          <a:p>
            <a:r>
              <a:t>   Misal IP 3.52 → μ_Bagus = 0.96 (hampir penuh)</a:t>
            </a:r>
          </a:p>
          <a:p/>
          <a:p>
            <a:r>
              <a:t>2. EVALUASI ATURAN: setiap rule dihitung kekuatan aktivasi α = min(μ_IP, μ_Minat).</a:t>
            </a:r>
          </a:p>
          <a:p>
            <a:r>
              <a:t>   Jadi α = min(0.96, 0.80) = 0.80</a:t>
            </a:r>
          </a:p>
          <a:p/>
          <a:p>
            <a:r>
              <a:t>3. IMPLIKASI: MF output (Tinggi) dipotong pada tinggi α=0.80, jadi trapesium.</a:t>
            </a:r>
          </a:p>
          <a:p/>
          <a:p>
            <a:r>
              <a:t>4. AGREGASI: semua trapesium digabung dengan operator max.</a:t>
            </a:r>
          </a:p>
          <a:p/>
          <a:p>
            <a:r>
              <a:t>5. DEFUZZIFIKASI: hitung Centre of Gravity (COG) = titik pusat massa dari area.</a:t>
            </a:r>
          </a:p>
          <a:p>
            <a:r>
              <a:t>   Untuk RPLD data #20, COG = 75.00</a:t>
            </a:r>
          </a:p>
          <a:p/>
          <a:p>
            <a:r>
              <a:t>Contoh di bawah menunjukkan end-to-end untuk data RPLD #20.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4 (Fuzzifikasi) — ~1.5 menit</a:t>
            </a:r>
          </a:p>
          <a:p/>
          <a:p>
            <a:r>
              <a:t>Perhatikan grafik di atas. Dua variabel input: IP (kiri) dan Minat (kanan).</a:t>
            </a:r>
          </a:p>
          <a:p/>
          <a:p>
            <a:r>
              <a:t>Titik-titik warna menunjukkan posisi data #20 untuk tiap KBK:</a:t>
            </a:r>
          </a:p>
          <a:p>
            <a:r>
              <a:t>- Biru = ITP, Merah = RPLD, Hijau = SKJK</a:t>
            </a:r>
          </a:p>
          <a:p/>
          <a:p>
            <a:r>
              <a:t>PENTING — lihat grafik Minat (kanan):</a:t>
            </a:r>
          </a:p>
          <a:p>
            <a:r>
              <a:t>- SKJK (hijau) jatuh tepat di puncak "Tidak Suka" → μ = 1.0</a:t>
            </a:r>
          </a:p>
          <a:p>
            <a:r>
              <a:t>- ITP (biru) di μ_Suka = 0.6</a:t>
            </a:r>
          </a:p>
          <a:p>
            <a:r>
              <a:t>- RPLD (merah) di μ_Suka = 0.8 → TERTINGGI</a:t>
            </a:r>
          </a:p>
          <a:p/>
          <a:p>
            <a:r>
              <a:t>Ini sudah menunjukkan kenapa RPLD menang: minatnya paling tinggi</a:t>
            </a:r>
          </a:p>
          <a:p>
            <a:r>
              <a:t>di antara ketiganya pada himpunan "Suka".</a:t>
            </a:r>
          </a:p>
          <a:p/>
          <a:p>
            <a:r>
              <a:t>Kenapa Suka berpuncak di 3? Karena kalau puncaknya di 2.5,</a:t>
            </a:r>
          </a:p>
          <a:p>
            <a:r>
              <a:t>maka minat 2.60 dan 2.80 akan hampir sama μ-nya.</a:t>
            </a:r>
          </a:p>
          <a:p>
            <a:r>
              <a:t>Dengan puncak di 3, selisih 0.6 vs 0.8 lebih signifikan.</a:t>
            </a:r>
          </a:p>
          <a:p/>
          <a:p>
            <a:r>
              <a:t>Kenapa segitiga, bukan trapesium? Karena untuk variabel akademik,</a:t>
            </a:r>
          </a:p>
          <a:p>
            <a:r>
              <a:t>representasi linear sudah memadai dan komputasinya lebih ringan.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5 (9 Fuzzy Rules) — ~1.5 menit</a:t>
            </a:r>
          </a:p>
          <a:p/>
          <a:p>
            <a:r>
              <a:t>Ini matriks 3×3 dari 9 fuzzy rules. Baris = IP, Kolom = Minat.</a:t>
            </a:r>
          </a:p>
          <a:p/>
          <a:p>
            <a:r>
              <a:t>Warna merah = Rendah, kuning = Sedang, hijau = Tinggi.</a:t>
            </a:r>
          </a:p>
          <a:p/>
          <a:p>
            <a:r>
              <a:t>Perhatikan 2 rule yang paling penting:</a:t>
            </a:r>
          </a:p>
          <a:p/>
          <a:p>
            <a:r>
              <a:t>RULE R7 (highlight ungu) — Bagus × Tidak Suka → Sedang, BUKAN Tinggi.</a:t>
            </a:r>
          </a:p>
          <a:p>
            <a:r>
              <a:t>Kenapa? Karena pengalaman menunjukkan: nilai bagus tapi tidak berminat</a:t>
            </a:r>
          </a:p>
          <a:p>
            <a:r>
              <a:t>sering berujung drop-out atau ketidakpuasan. Jadi saya batasi hanya Sedang.</a:t>
            </a:r>
          </a:p>
          <a:p>
            <a:r>
              <a:t>INI ADALAH KUNCI yang membuat SKJK kalah di data #20:</a:t>
            </a:r>
          </a:p>
          <a:p>
            <a:r>
              <a:t>meskipun IP tertinggi (3.65), minatnya hanya 1.50 (Tidak Suka),</a:t>
            </a:r>
          </a:p>
          <a:p>
            <a:r>
              <a:t>sehingga R7 membatasi NK-nya jadi Sedang (50).</a:t>
            </a:r>
          </a:p>
          <a:p/>
          <a:p>
            <a:r>
              <a:t>RULE R8 (highlight hijau) — Bagus × Suka → Tinggi.</a:t>
            </a:r>
          </a:p>
          <a:p>
            <a:r>
              <a:t>Ini rule yang menguntungkan RPLD: IP 3.52 (Bagus) dan Minat 2.80 (Suka)</a:t>
            </a:r>
          </a:p>
          <a:p>
            <a:r>
              <a:t>menghasilkan α = 0.80, output Tinggi, NK = 75.</a:t>
            </a:r>
          </a:p>
          <a:p/>
          <a:p>
            <a:r>
              <a:t>Prinsip desainnya: baik IP MAUPUN Minat harus memadai untuk mendapat</a:t>
            </a:r>
          </a:p>
          <a:p>
            <a:r>
              <a:t>rekomendasi Tinggi. Tidak cukup hanya salah satu.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6 (Pemilihan Metode) — ~45 detik</a:t>
            </a:r>
          </a:p>
          <a:p/>
          <a:p>
            <a:r>
              <a:t>Saya membandingkan 3 metode: Mamdani, Sugeno, dan Tsukamoto.</a:t>
            </a:r>
          </a:p>
          <a:p/>
          <a:p>
            <a:r>
              <a:t>Saya memilih MAMDANI karena 3 alasan:</a:t>
            </a:r>
          </a:p>
          <a:p/>
          <a:p>
            <a:r>
              <a:t>1. BISA DIVISUALISASIKAN — area fuzzy output (trapesium) bisa digambar.</a:t>
            </a:r>
          </a:p>
          <a:p>
            <a:r>
              <a:t>   Sugeno dan Tsukamoto hanya menghasilkan angka, tidak ada visual.</a:t>
            </a:r>
          </a:p>
          <a:p>
            <a:r>
              <a:t>   Untuk SPK, transparansi sangat penting.</a:t>
            </a:r>
          </a:p>
          <a:p/>
          <a:p>
            <a:r>
              <a:t>2. COCOK UNTUK SPK — pengambil keputusan perlu memahami MENGAPA</a:t>
            </a:r>
          </a:p>
          <a:p>
            <a:r>
              <a:t>   suatu rekomendasi diberikan. Dengan Mamdani, kita bisa trace</a:t>
            </a:r>
          </a:p>
          <a:p>
            <a:r>
              <a:t>   setiap langkah dari fuzzifikasi hingga COG.</a:t>
            </a:r>
          </a:p>
          <a:p/>
          <a:p>
            <a:r>
              <a:t>3. KONSISTEN — metode ini sama dengan yang dipelajari di materi</a:t>
            </a:r>
          </a:p>
          <a:p>
            <a:r>
              <a:t>   perkuliahan dan tugas mandiri pertemuan 7.</a:t>
            </a:r>
          </a:p>
          <a:p/>
          <a:p>
            <a:r>
              <a:t>Kalau ditanya "kenapa tidak Sugeno?":</a:t>
            </a:r>
          </a:p>
          <a:p>
            <a:r>
              <a:t>Sugeno memang lebih simpel secara komputasi, tapi tidak menghasilkan</a:t>
            </a:r>
          </a:p>
          <a:p>
            <a:r>
              <a:t>area fuzzy. Untuk SPK yang perlu dijelaskan ke stakeholder,</a:t>
            </a:r>
          </a:p>
          <a:p>
            <a:r>
              <a:t>Mamdani lebih tepat karena bisa divisualisasikan.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7 (Walkthrough #20) — ~3 menit — SLIDE TERPENTING</a:t>
            </a:r>
          </a:p>
          <a:p/>
          <a:p>
            <a:r>
              <a:t>Ini slide paling penting. Saya akan jelaskan step-by-step.</a:t>
            </a:r>
          </a:p>
          <a:p/>
          <a:p>
            <a:r>
              <a:t>=== KBK ITP (kiri) ===</a:t>
            </a:r>
          </a:p>
          <a:p>
            <a:r>
              <a:t>Input: IP=3.40, Minat=2.60</a:t>
            </a:r>
          </a:p>
          <a:p>
            <a:r>
              <a:t>Fuzzifikasi: IP masuk Cukup (μ=0.1) dan Bagus (μ=0.8).</a:t>
            </a:r>
          </a:p>
          <a:p>
            <a:r>
              <a:t>             Minat masuk Suka (μ=0.6).</a:t>
            </a:r>
          </a:p>
          <a:p>
            <a:r>
              <a:t>Rules aktif: R5 (Cukup×Suka→Sedang, α=0.1) dan R8 (Bagus×Suka→Tinggi, α=0.6).</a:t>
            </a:r>
          </a:p>
          <a:p>
            <a:r>
              <a:t>Hasil: Tinggi dominan, tapi ada sedikit Sedang yang menarik COG turun.</a:t>
            </a:r>
          </a:p>
          <a:p>
            <a:r>
              <a:t>NK = 71.14</a:t>
            </a:r>
          </a:p>
          <a:p/>
          <a:p>
            <a:r>
              <a:t>=== KBK RPLD (tengah) — PEMENANG ===</a:t>
            </a:r>
          </a:p>
          <a:p>
            <a:r>
              <a:t>Input: IP=3.52, Minat=2.80</a:t>
            </a:r>
          </a:p>
          <a:p>
            <a:r>
              <a:t>Fuzzifikasi: IP masuk Bagus (μ=0.96 — hampir penuh!).</a:t>
            </a:r>
          </a:p>
          <a:p>
            <a:r>
              <a:t>             Minat masuk Suka (μ=0.80 — lebih tinggi dari ITP).</a:t>
            </a:r>
          </a:p>
          <a:p>
            <a:r>
              <a:t>Hanya 1 rule aktif: R8 (Bagus×Suka→Tinggi, α=0.80).</a:t>
            </a:r>
          </a:p>
          <a:p>
            <a:r>
              <a:t>Karena trapesium simetris, COG = titik puncak = 75.00</a:t>
            </a:r>
          </a:p>
          <a:p/>
          <a:p>
            <a:r>
              <a:t>=== KBK SKJK (kanan) ===</a:t>
            </a:r>
          </a:p>
          <a:p>
            <a:r>
              <a:t>Input: IP=3.65, Minat=1.50</a:t>
            </a:r>
          </a:p>
          <a:p>
            <a:r>
              <a:t>Fuzzifikasi: IP masuk Bagus (μ=0.7). Minat masuk TS (μ=1.0 — puncak!).</a:t>
            </a:r>
          </a:p>
          <a:p>
            <a:r>
              <a:t>Hanya 1 rule aktif: R7 (Bagus×TS→Sedang, α=0.70).</a:t>
            </a:r>
          </a:p>
          <a:p>
            <a:r>
              <a:t>R7 adalah differentiator kunci: nilai bagus TANPA minat → hanya Sedang!</a:t>
            </a:r>
          </a:p>
          <a:p>
            <a:r>
              <a:t>NK = 50.00</a:t>
            </a:r>
          </a:p>
          <a:p/>
          <a:p>
            <a:r>
              <a:t>KESIMPULAN: RPLD (75) &gt; ITP (71.14) &gt; SKJK (50) → RPLD MENANG!</a:t>
            </a:r>
          </a:p>
          <a:p/>
          <a:p>
            <a:r>
              <a:t>Point penjelasan: meskipun SKJK punya IP TERTINGGI (3.65),</a:t>
            </a:r>
          </a:p>
          <a:p>
            <a:r>
              <a:t>rule R7 membatasinya karena minatnya sangat rendah.</a:t>
            </a:r>
          </a:p>
          <a:p>
            <a:r>
              <a:t>Ini menunjukkan fuzzy system menangkap kedua faktor secara seimbang.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8 (Verifikasi) — ~1.5 menit</a:t>
            </a:r>
          </a:p>
          <a:p/>
          <a:p>
            <a:r>
              <a:t>Grafik bar menunjukkan hasil NK untuk semua 20 mahasiswa.</a:t>
            </a:r>
          </a:p>
          <a:p>
            <a:r>
              <a:t>3 warna: biru=ITP, merah=RPLD, hijau=SKJK.</a:t>
            </a:r>
          </a:p>
          <a:p>
            <a:r>
              <a:t>Bintang menandakan KBK yang direkomendasikan.</a:t>
            </a:r>
          </a:p>
          <a:p/>
          <a:p>
            <a:r>
              <a:t>Perhatikan:</a:t>
            </a:r>
          </a:p>
          <a:p>
            <a:r>
              <a:t>- Data 1-7 (pemilih ITP): bar biru selalu tertinggi ✓</a:t>
            </a:r>
          </a:p>
          <a:p>
            <a:r>
              <a:t>- Data 8-13 (pemilih RPLD): bar merah selalu tertinggi ✓</a:t>
            </a:r>
          </a:p>
          <a:p>
            <a:r>
              <a:t>- Data 14-19 (pemilih SKJK): bar hijau selalu tertinggi ✓</a:t>
            </a:r>
          </a:p>
          <a:p>
            <a:r>
              <a:t>- Data 20 (TARGET): bar merah (RPLD) tertinggi ✓</a:t>
            </a:r>
          </a:p>
          <a:p/>
          <a:p>
            <a:r>
              <a:t>Hasil: akurasi 100% pada 19 data latih, dan data target #20</a:t>
            </a:r>
          </a:p>
          <a:p>
            <a:r>
              <a:t>berhasil merekomendasikan RPLD sesuai syarat soal ujian.</a:t>
            </a:r>
          </a:p>
          <a:p/>
          <a:p>
            <a:r>
              <a:t>Semua perhitungan diverifikasi menggunakan Python</a:t>
            </a:r>
          </a:p>
          <a:p>
            <a:r>
              <a:t>dengan 10.001 titik diskritisasi untuk akurasi numerik.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9 (Decision Boundary) — ~1.5 menit</a:t>
            </a:r>
          </a:p>
          <a:p/>
          <a:p>
            <a:r>
              <a:t>Ini adalah decision boundary chart yang sangat penting untuk memahami</a:t>
            </a:r>
          </a:p>
          <a:p>
            <a:r>
              <a:t>secara GLOBAL bagaimana sistem fuzzy membuat keputusan.</a:t>
            </a:r>
          </a:p>
          <a:p/>
          <a:p>
            <a:r>
              <a:t>BAGAIMANA MEMBACANYA:</a:t>
            </a:r>
          </a:p>
          <a:p>
            <a:r>
              <a:t>- Ini seperti peta cuaca: warna menunjukkan NK untuk setiap kombinasi (IPK, Minat)</a:t>
            </a:r>
          </a:p>
          <a:p>
            <a:r>
              <a:t>- Sumbu X = IPK, Sumbu Y = Minat</a:t>
            </a:r>
          </a:p>
          <a:p>
            <a:r>
              <a:t>- Merah = NK rendah, kuning = NK sedang, hijau = NK tinggi</a:t>
            </a:r>
          </a:p>
          <a:p>
            <a:r>
              <a:t>- Garis putus-putus = batas threshold NK=50 dan NK=75</a:t>
            </a:r>
          </a:p>
          <a:p/>
          <a:p>
            <a:r>
              <a:t>INTERPRETASI DATA #20:</a:t>
            </a:r>
          </a:p>
          <a:p>
            <a:r>
              <a:t>- RPLD (titik merah) berada di zona HIJAU → kombinasi terbaik</a:t>
            </a:r>
          </a:p>
          <a:p>
            <a:r>
              <a:t>- ITP (titik biru) di zona KUNING-HIJAU → cukup tapi bukan tertinggi</a:t>
            </a:r>
          </a:p>
          <a:p>
            <a:r>
              <a:t>- SKJK (titik hijau) di zona MERAH → meskipun IP TERTINGGI, minat terlalu rendah</a:t>
            </a:r>
          </a:p>
          <a:p/>
          <a:p>
            <a:r>
              <a:t>POINT TERPENTING:</a:t>
            </a:r>
          </a:p>
          <a:p>
            <a:r>
              <a:t>Perhatikan area KANAN BAWAH chart (IP tinggi, Minat rendah).</a:t>
            </a:r>
          </a:p>
          <a:p>
            <a:r>
              <a:t>Meskipun IP di atas 3.5, area ini tetap MERAH/KUNING.</a:t>
            </a:r>
          </a:p>
          <a:p>
            <a:r>
              <a:t>Kenapa? Karena Rule R7 membatasi output jadi Sedang untuk IP bagus × Minat rendah.</a:t>
            </a:r>
          </a:p>
          <a:p>
            <a:r>
              <a:t>TANPA Rule R7, seluruh sisi kanan akan hijau — dan SKJK akan menang.</a:t>
            </a:r>
          </a:p>
          <a:p>
            <a:r>
              <a:t>R7 membuat "jurang" di area kanan bawah, memastikan minat tetap diperhitungkan.</a:t>
            </a:r>
          </a:p>
          <a:p/>
          <a:p>
            <a:r>
              <a:t>Ini membuktikan bahwa fuzzy system menangkap kedua faktor secara seimbang,</a:t>
            </a:r>
          </a:p>
          <a:p>
            <a:r>
              <a:t>bukan hanya mengambil IP tertinggi.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 — SLIDE 10 (Kesimpulan) — ~1 menit</a:t>
            </a:r>
          </a:p>
          <a:p/>
          <a:p>
            <a:r>
              <a:t>4 poin kesimpulan:</a:t>
            </a:r>
          </a:p>
          <a:p/>
          <a:p>
            <a:r>
              <a:t>1. FUZZIFIKASI: 3 MF segitiga per variabel sudah cukup.</a:t>
            </a:r>
          </a:p>
          <a:p>
            <a:r>
              <a:t>   Kenapa segitiga? Sederhana, komputasi ringan, overlap halus.</a:t>
            </a:r>
          </a:p>
          <a:p/>
          <a:p>
            <a:r>
              <a:t>2. 9 FUZZY RULES: Yang paling penting adalah R7.</a:t>
            </a:r>
          </a:p>
          <a:p>
            <a:r>
              <a:t>   R7 memastikan bahwa IP bagus saja TIDAK CUKUP tanpa minat.</a:t>
            </a:r>
          </a:p>
          <a:p>
            <a:r>
              <a:t>   Ini yang membedakan fuzzy dari sekadar "ambil IP tertinggi".</a:t>
            </a:r>
          </a:p>
          <a:p/>
          <a:p>
            <a:r>
              <a:t>3. MAMDANI + COG: Metode Mamdani menghasilkan area fuzzy</a:t>
            </a:r>
          </a:p>
          <a:p>
            <a:r>
              <a:t>   yang bisa divisualisasikan, cocok untuk SPK yang perlu transparansi.</a:t>
            </a:r>
          </a:p>
          <a:p>
            <a:r>
              <a:t>   COG = titik pusat massa dari area fuzzy.</a:t>
            </a:r>
          </a:p>
          <a:p/>
          <a:p>
            <a:r>
              <a:t>4. VERIFIKASI: 100% akurat pada data latih, dan target #20</a:t>
            </a:r>
          </a:p>
          <a:p>
            <a:r>
              <a:t>   berhasil merekomendasikan RPLD sesuai syarat soal ujian.</a:t>
            </a:r>
          </a:p>
          <a:p/>
          <a:p>
            <a:r>
              <a:t>Sekian presentasi saya. Terima kasih. Ada pertanyaan?</a:t>
            </a:r>
          </a:p>
          <a:p/>
          <a:p>
            <a:r>
              <a:t>---</a:t>
            </a:r>
          </a:p>
          <a:p/>
          <a:p>
            <a:r>
              <a:t>PERSIAPAN ANTISIPASI PERTANYAAN DOSEN:</a:t>
            </a:r>
          </a:p>
          <a:p/>
          <a:p>
            <a:r>
              <a:t>Q: Kenapa tidak pakai Sugeno?</a:t>
            </a:r>
          </a:p>
          <a:p>
            <a:r>
              <a:t>A: Sugeno tidak menghasilkan area fuzzy, hanya angka. Untuk SPK</a:t>
            </a:r>
          </a:p>
          <a:p>
            <a:r>
              <a:t>   yang perlu transparansi dan penjelasan ke pengguna, Mamdani</a:t>
            </a:r>
          </a:p>
          <a:p>
            <a:r>
              <a:t>   lebih cocok karena setiap langkah bisa divisualisasikan.</a:t>
            </a:r>
          </a:p>
          <a:p/>
          <a:p>
            <a:r>
              <a:t>Q: Kenapa R7 bukan Tinggi?</a:t>
            </a:r>
          </a:p>
          <a:p>
            <a:r>
              <a:t>A: Pengalaman menunjukkan mahasiswa dengan IP tinggi tapi minat</a:t>
            </a:r>
          </a:p>
          <a:p>
            <a:r>
              <a:t>   rendah cenderung drop-out atau tidak puas. Minat adalah faktor</a:t>
            </a:r>
          </a:p>
          <a:p>
            <a:r>
              <a:t>   keberlanjutan, bukan hanya kemampuan awal.</a:t>
            </a:r>
          </a:p>
          <a:p/>
          <a:p>
            <a:r>
              <a:t>Q: Kenapa parameter MF begitu?</a:t>
            </a:r>
          </a:p>
          <a:p>
            <a:r>
              <a:t>A: Parameter disesuaikan dengan sebaran data survei. IP Bagus</a:t>
            </a:r>
          </a:p>
          <a:p>
            <a:r>
              <a:t>   dimulai dari 3 karena itu batas "baik" di perguruan tinggi.</a:t>
            </a:r>
          </a:p>
          <a:p>
            <a:r>
              <a:t>   Minat Suka berpuncak di 3 agar ada selisih jelas antara</a:t>
            </a:r>
          </a:p>
          <a:p>
            <a:r>
              <a:t>   minat 2.60 dan 2.80 untuk data target #20.</a:t>
            </a:r>
          </a:p>
          <a:p/>
          <a:p>
            <a:r>
              <a:t>Q: Bagaimana kalau datanya berubah?</a:t>
            </a:r>
          </a:p>
          <a:p>
            <a:r>
              <a:t>A: Parameter MF dan rules bisa di-tuning menggunakan data training.</a:t>
            </a:r>
          </a:p>
          <a:p>
            <a:r>
              <a:t>   Sistem ini bisa diupgrade dengan learning otomatis (ANFIS).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3657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Sistem Pendukung Keputusan</a:t>
            </a:r>
            <a:br/>
            <a:r>
              <a:t>Pemilihan Bidang Konsentrasi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D700"/>
                </a:solidFill>
                <a:latin typeface="Calibri"/>
              </a:defRPr>
            </a:pPr>
            <a:r>
              <a:t>Fuzzy Inference System — Metode Mamdani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RIYADI — H2A025002</a:t>
            </a:r>
            <a:br/>
            <a:r>
              <a:t>Magister Teknik Elektro, Universitas Jenderal Soedirman</a:t>
            </a:r>
            <a:br/>
            <a:r>
              <a:t>Ujian CPMK-2 | Kecerdasan Buatan (MTE25112)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Latar Belakang Masalah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Perguruan tinggi memiliki 3 KBK: ITP, RPLD, SKJK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Setiap mahasiswa mengisi survei: IPK dan Minat (skala 0-4)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Sistem harus menghitung Nilai Kelayakan (NK) per KBK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KBK dengan NK tertinggi = rekomendasi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DATA TARGET #20: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ITP:  IP=3.40, Minat=2.60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RPLD: IP=3.52, Minat=2.80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SKJK: IP=3.65, Minat=1.50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Pertanyaan: KBK mana yang direkomendasikan?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→ Syarat: HARUS RPLD</a:t>
            </a:r>
          </a:p>
        </p:txBody>
      </p:sp>
      <p:pic>
        <p:nvPicPr>
          <p:cNvPr id="5" name="Picture 4" descr="plot_decision_boundar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5120640"/>
            <a:ext cx="5029200" cy="11887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52120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  <a:latin typeface="Calibri"/>
              </a:defRPr>
            </a:pPr>
            <a:r>
              <a:t>Heatmap: IP tinggi saja tidak cukup!</a:t>
            </a:r>
            <a:br/>
            <a:r>
              <a:t>SKJK punya IP tertinggi (3.65) tapi Minat terendah (1.50)</a:t>
            </a:r>
            <a:br/>
            <a:r>
              <a:t>→ Fuzzy bisa menangkap kedua faktor secara bersamaan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Arsitektur FIS Mamdani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19" y="1371600"/>
            <a:ext cx="548640" cy="548640"/>
          </a:xfrm>
          <a:prstGeom prst="ellipse">
            <a:avLst/>
          </a:prstGeom>
          <a:solidFill>
            <a:srgbClr val="538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11680" cy="20116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8DED"/>
                </a:solidFill>
                <a:latin typeface="Calibri"/>
              </a:defRPr>
            </a:pPr>
            <a:r>
              <a:t>Fuzzifikasi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Crisp → μ</a:t>
            </a:r>
            <a:br/>
            <a:r>
              <a:t>IP=3.52 → μ=0.96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743200"/>
            <a:ext cx="320040" cy="228600"/>
          </a:xfrm>
          <a:prstGeom prst="rightArrow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rgbClr val="4E9A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03120"/>
            <a:ext cx="2011680" cy="20116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D1"/>
                </a:solidFill>
                <a:latin typeface="Calibri"/>
              </a:defRPr>
            </a:pPr>
            <a:r>
              <a:t>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51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α = min(μ₁, μ₂)</a:t>
            </a:r>
            <a:br/>
            <a:r>
              <a:t>α = 0.80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2743200"/>
            <a:ext cx="320040" cy="228600"/>
          </a:xfrm>
          <a:prstGeom prst="rightArrow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0" y="1371600"/>
            <a:ext cx="548640" cy="54864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103120"/>
            <a:ext cx="2011680" cy="20116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838"/>
                </a:solidFill>
                <a:latin typeface="Calibri"/>
              </a:defRPr>
            </a:pPr>
            <a:r>
              <a:t>Implikasi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651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MF dipotong</a:t>
            </a:r>
            <a:br/>
            <a:r>
              <a:t>pada α=0.80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2320" y="2743200"/>
            <a:ext cx="320040" cy="228600"/>
          </a:xfrm>
          <a:prstGeom prst="rightArrow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19" y="1371600"/>
            <a:ext cx="548640" cy="548640"/>
          </a:xfrm>
          <a:prstGeom prst="ellipse">
            <a:avLst/>
          </a:prstGeom>
          <a:solidFill>
            <a:srgbClr val="E9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103120"/>
            <a:ext cx="2011680" cy="20116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7050"/>
                </a:solidFill>
                <a:latin typeface="Calibri"/>
              </a:defRPr>
            </a:pPr>
            <a:r>
              <a:t>Agregasi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651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max semua</a:t>
            </a:r>
            <a:br/>
            <a:r>
              <a:t>trapesium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2743200"/>
            <a:ext cx="320040" cy="228600"/>
          </a:xfrm>
          <a:prstGeom prst="rightArrow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19" y="1371600"/>
            <a:ext cx="548640" cy="5486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103120"/>
            <a:ext cx="2011680" cy="20116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Calibri"/>
              </a:defRPr>
            </a:pPr>
            <a:r>
              <a:t>Defuzzifikasi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651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COG =</a:t>
            </a:r>
            <a:br/>
            <a:r>
              <a:t>titik pusat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10972800" cy="18288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Contoh: Data #20 → KBK RPLD (IP=3.52, Minat=2.80)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Input crisp (3.52, 2.80) → Fuzzifikasi: μ_Bagus=0.96, μ_Suka=0.80 → Evaluasi: α=min(0.96, 0.80)=0.80 → Implikasi: MF Tinggi dipotong di 0.80 → Agregasi: 1 trapesium → Defuzzifikasi COG: NK = 75.00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Fuzzifikasi — Membership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mf_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486400"/>
            <a:ext cx="3657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IP: Kecil(0,1,2) Cukup(1.5,2.5,3.5) Bagus(3,3.5,4)</a:t>
            </a:r>
            <a:br/>
            <a:r>
              <a:t>Kenapa segitiga? Sederhana, efisien, cukup</a:t>
            </a:r>
            <a:br/>
            <a:r>
              <a:t>untuk merepresentasikan gradasi akademik.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486400"/>
            <a:ext cx="3657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5532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Minat: TS(0,1.5,2.5) Suka(2,3,4) SS(3,3.5,4)</a:t>
            </a:r>
            <a:br/>
            <a:r>
              <a:t>Suka berpuncak di 3, bukan 2.5 — sehingga</a:t>
            </a:r>
            <a:br/>
            <a:r>
              <a:t>minat 2.80 &gt; 2.60 dalam derajat 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486400"/>
            <a:ext cx="356616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5532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Calibri"/>
              </a:defRPr>
            </a:pPr>
            <a:r>
              <a:t>Segitiga dipilih karena:</a:t>
            </a:r>
            <a:br/>
            <a:r>
              <a:t>• Komputasi ringan</a:t>
            </a:r>
            <a:br/>
            <a:r>
              <a:t>• Overlap halus antar himpunan</a:t>
            </a:r>
            <a:br/>
            <a:r>
              <a:t>• Cocok untuk variabel kontinu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 Fuzzy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194560" cy="5486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CCCC"/>
                </a:solidFill>
                <a:latin typeface="Calibri"/>
              </a:defRPr>
            </a:pPr>
            <a:r>
              <a:t>IP \ Minat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280160"/>
            <a:ext cx="2194560" cy="5486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Tidak Suka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2194560" cy="5486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280160"/>
            <a:ext cx="2194560" cy="54864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Sangat Suka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01168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057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Kecil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01168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057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94560"/>
                </a:solidFill>
                <a:latin typeface="Calibri"/>
              </a:defRPr>
            </a:pPr>
            <a:r>
              <a:t>Rendah</a:t>
            </a:r>
            <a:br/>
            <a:r>
              <a:t>(R1)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94560"/>
                </a:solidFill>
                <a:latin typeface="Calibri"/>
              </a:defRPr>
            </a:pPr>
            <a:r>
              <a:t>Rendah</a:t>
            </a:r>
            <a:br/>
            <a:r>
              <a:t>(R2)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01168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057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8A838"/>
                </a:solidFill>
                <a:latin typeface="Calibri"/>
              </a:defRPr>
            </a:pPr>
            <a:r>
              <a:t>Sedang</a:t>
            </a:r>
            <a:br/>
            <a:r>
              <a:t>(R3)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10896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54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Cukup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310896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154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94560"/>
                </a:solidFill>
                <a:latin typeface="Calibri"/>
              </a:defRPr>
            </a:pPr>
            <a:r>
              <a:t>Rendah</a:t>
            </a:r>
            <a:br/>
            <a:r>
              <a:t>(R4)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0896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54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8A838"/>
                </a:solidFill>
                <a:latin typeface="Calibri"/>
              </a:defRPr>
            </a:pPr>
            <a:r>
              <a:t>Sedang</a:t>
            </a:r>
            <a:br/>
            <a:r>
              <a:t>(R5)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10896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154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C853"/>
                </a:solidFill>
                <a:latin typeface="Calibri"/>
              </a:defRPr>
            </a:pPr>
            <a:r>
              <a:t>Tinggi</a:t>
            </a:r>
            <a:br/>
            <a:r>
              <a:t>(R6)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5195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Bagus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4206240"/>
            <a:ext cx="2194560" cy="822960"/>
          </a:xfrm>
          <a:prstGeom prst="roundRect">
            <a:avLst/>
          </a:prstGeom>
          <a:solidFill>
            <a:srgbClr val="4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425195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8A838"/>
                </a:solidFill>
                <a:latin typeface="Calibri"/>
              </a:defRPr>
            </a:pPr>
            <a:r>
              <a:t>Sedang</a:t>
            </a:r>
            <a:br/>
            <a:r>
              <a:t>(R7)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206240"/>
            <a:ext cx="2194560" cy="822960"/>
          </a:xfrm>
          <a:prstGeom prst="roundRect">
            <a:avLst/>
          </a:prstGeom>
          <a:solidFill>
            <a:srgbClr val="0A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5195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C853"/>
                </a:solidFill>
                <a:latin typeface="Calibri"/>
              </a:defRPr>
            </a:pPr>
            <a:r>
              <a:t>Tinggi</a:t>
            </a:r>
            <a:br/>
            <a:r>
              <a:t>(R8)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06240"/>
            <a:ext cx="219456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25195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C853"/>
                </a:solidFill>
                <a:latin typeface="Calibri"/>
              </a:defRPr>
            </a:pPr>
            <a:r>
              <a:t>Tinggi</a:t>
            </a:r>
            <a:br/>
            <a:r>
              <a:t>(R9)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280160"/>
            <a:ext cx="3931920" cy="5029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Prinsip Desain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19202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IP rendah → max Sedang</a:t>
            </a:r>
            <a:br/>
            <a:r>
              <a:t>(syarat akademik belum terpenuhi)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Minat rendah → batasi output</a:t>
            </a:r>
            <a:br/>
            <a:r>
              <a:t>(ketidaksesuaian minat = risiko)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R7 = DIFFERENTIATOR KUNCI:</a:t>
            </a:r>
            <a:br/>
            <a:r>
              <a:t>Bagus × Tidak Suka → Sedang</a:t>
            </a:r>
            <a:br/>
            <a:r>
              <a:t>(bukan Tinggi!)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R8 = RULE UTAMA:</a:t>
            </a:r>
            <a:br/>
            <a:r>
              <a:t>Bagus × Suka → Tinggi</a:t>
            </a:r>
            <a:br/>
            <a:r>
              <a:t>(ini yang membuat RPLD menang)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Pemilihan Metode Inferensi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0A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Mamdani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DIPILIH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area fuzzy (trapesium)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Defuzzifikasi: COG (integral)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BISA divisualisasikan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Cocok untuk SPK (transparan)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Konsisten dengan materi kuliah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Sugeno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Alternatif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fungsi linear/konstanta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Defuzzifikasi: weighted average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Lebih simpel, tapi TANPA visual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Cocok untuk kontrol real-time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Kurang intuitif untuk SPK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Tsukamoto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Alternatif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titik per rule (invers MF)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Defuzzifikasi: weighted average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Perlu MF monotonik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Lebih simpel dari Mamdani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Tapi kurang fleksibel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Walkthrough: Data Target #20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3035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38DED"/>
                </a:solidFill>
                <a:latin typeface="Calibri"/>
              </a:defRPr>
            </a:pPr>
            <a:r>
              <a:t>ITP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IP=3.40  Minat=2.60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Fuzzifikasi: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μ_Cukup=0.1, μ_Bagus=0.8</a:t>
            </a:r>
            <a:br/>
            <a:r>
              <a:t>μ_Suka=0.6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Rules Aktif: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R5: α=min(0.1, 0.6) = 0.1</a:t>
            </a:r>
            <a:br/>
            <a:r>
              <a:t>R8: α=min(0.8, 0.6) = 0.6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Implikasi: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Sedang@0.1 + Tinggi@0.6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CCCCC"/>
                </a:solidFill>
                <a:latin typeface="Calibri"/>
              </a:defRPr>
            </a:pPr>
            <a:r>
              <a:t>NK = 71.14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097280"/>
            <a:ext cx="3657600" cy="53035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94560"/>
                </a:solidFill>
                <a:latin typeface="Calibri"/>
              </a:defRPr>
            </a:pPr>
            <a:r>
              <a:t>RPLD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IP=3.52  Minat=2.80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Fuzzifikasi: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μ_Bagus=0.96</a:t>
            </a:r>
            <a:br/>
            <a:r>
              <a:t>μ_Suka=0.80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Rules Aktif: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R8: α=min(0.96, 0.80) = 0.80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Implikasi: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Tinggi@0.8 (murni)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NK = 75.00 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097280"/>
            <a:ext cx="3657600" cy="53035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0C878"/>
                </a:solidFill>
                <a:latin typeface="Calibri"/>
              </a:defRPr>
            </a:pPr>
            <a:r>
              <a:t>SKJK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IP=3.65  Minat=1.50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Fuzzifikasi: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774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μ_Bagus=0.7</a:t>
            </a:r>
            <a:br/>
            <a:r>
              <a:t>μ_TS=1.0 (puncak!)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Rules Aktif: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R7: α=min(0.7, 1.0) = 0.70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Implikasi: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Sedang@0.7 (terbatas)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CCCCC"/>
                </a:solidFill>
                <a:latin typeface="Calibri"/>
              </a:defRPr>
            </a:pPr>
            <a:r>
              <a:t>NK = 50.00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492240"/>
            <a:ext cx="11430000" cy="274320"/>
          </a:xfrm>
          <a:prstGeom prst="roundRect">
            <a:avLst/>
          </a:prstGeom>
          <a:solidFill>
            <a:srgbClr val="0A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Hasil Verifikasi — 20 Mahasiswa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bar_al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03520"/>
            <a:ext cx="3474720" cy="1280160"/>
          </a:xfrm>
          <a:prstGeom prst="roundRect">
            <a:avLst/>
          </a:prstGeom>
          <a:solidFill>
            <a:srgbClr val="0A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53"/>
                </a:solidFill>
                <a:latin typeface="Calibri"/>
              </a:defRPr>
            </a:pPr>
            <a:r>
              <a:t>Akurasi Data Latih</a:t>
            </a:r>
            <a:br/>
            <a:r>
              <a:t>19/19 =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5303520"/>
            <a:ext cx="3657600" cy="1280160"/>
          </a:xfrm>
          <a:prstGeom prst="roundRect">
            <a:avLst/>
          </a:prstGeom>
          <a:solidFill>
            <a:srgbClr val="0A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5349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Data Target #20</a:t>
            </a:r>
            <a:br/>
            <a:r>
              <a:t>RPLD terpilih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303520"/>
            <a:ext cx="3566160" cy="12801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5349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Verifikasi Python</a:t>
            </a:r>
            <a:br/>
            <a:r>
              <a:t>sim_fuzzy_spk.py</a:t>
            </a:r>
            <a:br/>
            <a:r>
              <a:t>10.001 titik diskritisasi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Decision Boundary — Visualisasi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decision_boundar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5212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188720"/>
            <a:ext cx="4389120" cy="52120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Apa itu Decision Boundary?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Peta warna yang menjawab: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"Jika IPK dan Minat sekian, NK-nya berapa?"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CARA MEMBACA: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Sumbu X = IPK, Sumbu Y = Minat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Merah = NK rendah (0-50)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Kuning = NK sedang (50-75)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Hijau = NK tinggi (75-100)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DATA TARGET #20: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○ RPLD → zona HIJAU (NK=75)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Kombinasi IP+Minat terbaik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□ ITP → zona KUNING-HIJAU (NK=71)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Cukup baik, minat kurang tinggi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△ SKJK → zona MERAH (NK=50)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IP tinggi tapi Minat sangat rendah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INTI: NK tinggi HANYA tercapai jika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IPK dan Minat KEDUANYA memadai.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Area kanan-bawah tetap MERAH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konsekuensi Rule R7!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538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8DED"/>
                </a:solidFill>
                <a:latin typeface="Calibri"/>
              </a:defRPr>
            </a:pPr>
            <a:r>
              <a:t>Fuzzifikasi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7451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 MF segitiga per variabel.</a:t>
            </a:r>
            <a:br/>
            <a:r>
              <a:t>Sederhana, efisien, overlap halus.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9 Fuzzy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15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R7 = differentiator kunci:</a:t>
            </a:r>
            <a:br/>
            <a:r>
              <a:t>IP bagus tanpa minat → hanya Sedang.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114800"/>
            <a:ext cx="640080" cy="64008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Calibri"/>
              </a:defRPr>
            </a:pPr>
            <a:r>
              <a:t>Mamdani + COG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434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Area fuzzy divisualisasikan.</a:t>
            </a:r>
            <a:br/>
            <a:r>
              <a:t>COG = titik pusat massa area.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394959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303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Calibri"/>
              </a:defRPr>
            </a:pPr>
            <a:r>
              <a:t>Verifikasi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71499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19/19 data latih = 100% akurat.</a:t>
            </a:r>
            <a:br/>
            <a:r>
              <a:t>Target #20 → RPLD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263640"/>
            <a:ext cx="10332720" cy="5029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  <a:latin typeface="Calibri"/>
              </a:defRPr>
            </a:pPr>
            <a:r>
              <a:t>Demo interaktif: https://cpmk-02-ririx.streamlit.app/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309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Terima kasih!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